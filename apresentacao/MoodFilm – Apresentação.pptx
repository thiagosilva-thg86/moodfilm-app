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728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(2 a 3 min): apresentar o tema, falar da motivação e adiantar o roteiro: demo ao vivo, decisões técnicas, desafios e fechamento.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ao vivo (cerca de 15 min no total). Cadastrar um usuário A na hora, mostrar o apelido aparecendo na tela principal, sair e entrar de novo.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Adicionar um filme digitando o título (a busca do TMDB preenche pôster e dados), editar a nota e o status, e excluir uma entrada.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dois usuários (uma janela normal e uma anônima ajudam). Firestore: modelo de documentos e coleções, parecido com pastas, que facilita consultas como "só os filmes do usuário, ordenados por nota". Componentes: a ideia foi o usuário achar rápido o que procura, com o mais usado perto (diário), o dashboard em seguida e as configurações mais afastadas.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rapidamente o dashboard e a tela de perfil.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5 min. Contar o problema, o que tentaram e o que funcionou. O terceiro desafio é genérico: ajustar para o que realmente aconteceu no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Conclusão breve (1 a 2 min) e abrir para as perguntas da banca.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F0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6096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361440"/>
            <a:ext cx="10566400" cy="468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6096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361440"/>
            <a:ext cx="10566400" cy="468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193800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Desenvolvimento Híbrido</a:t>
            </a:r>
            <a:endParaRPr lang="en-US" sz="1400" dirty="0"/>
          </a:p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Prof.: Caio Azeredo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945640"/>
            <a:ext cx="10883392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560"/>
              </a:lnSpc>
              <a:buNone/>
            </a:pPr>
            <a:r>
              <a:rPr lang="en-US" sz="7200" b="1" i="0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🎬 MoodFilm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12800" y="3159760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forma humorada de ver a sétima arte.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12800" y="3840480"/>
            <a:ext cx="5181600" cy="1620520"/>
          </a:xfrm>
          <a:prstGeom prst="roundRect">
            <a:avLst>
              <a:gd name="adj" fmla="val 6270"/>
            </a:avLst>
          </a:prstGeom>
          <a:solidFill>
            <a:srgbClr val="1C15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66800" y="4094480"/>
            <a:ext cx="481380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6800" y="4414520"/>
            <a:ext cx="4813808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Catalogar filmes e séries pelo sentimento que eles provocaram, não só por uma nota.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97600" y="3840480"/>
            <a:ext cx="5181600" cy="1620520"/>
          </a:xfrm>
          <a:prstGeom prst="roundRect">
            <a:avLst>
              <a:gd name="adj" fmla="val 6270"/>
            </a:avLst>
          </a:prstGeom>
          <a:solidFill>
            <a:srgbClr val="1C15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51600" y="4094480"/>
            <a:ext cx="481380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Motivação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51600" y="4414520"/>
            <a:ext cx="4813808" cy="817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Filmes e séries são uma forma de arte: medir pelo sentimento que geram é mais aderente do que uma nota fria.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6024880"/>
            <a:ext cx="221126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79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Aluno: Thiago Soares da Silva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79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Matricula: 1250120061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6096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Demo: cadastro e login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882942" y="1257299"/>
            <a:ext cx="2261937" cy="4205038"/>
          </a:xfrm>
          <a:prstGeom prst="roundRect">
            <a:avLst>
              <a:gd name="adj" fmla="val 3645"/>
            </a:avLst>
          </a:prstGeom>
          <a:solidFill>
            <a:srgbClr val="07041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Tela de cadastro do MoodFilm"/>
          <p:cNvPicPr>
            <a:picLocks noChangeAspect="1"/>
          </p:cNvPicPr>
          <p:nvPr/>
        </p:nvPicPr>
        <p:blipFill>
          <a:blip r:embed="rId3"/>
          <a:srcRect l="41134" t="21825" r="41030" b="12572"/>
          <a:stretch>
            <a:fillRect/>
          </a:stretch>
        </p:blipFill>
        <p:spPr>
          <a:xfrm>
            <a:off x="2018297" y="1365585"/>
            <a:ext cx="1991226" cy="3982452"/>
          </a:xfrm>
          <a:prstGeom prst="roundRect">
            <a:avLst>
              <a:gd name="adj" fmla="val 3645"/>
            </a:avLst>
          </a:prstGeom>
        </p:spPr>
      </p:pic>
      <p:sp>
        <p:nvSpPr>
          <p:cNvPr id="5" name="Text 2"/>
          <p:cNvSpPr/>
          <p:nvPr/>
        </p:nvSpPr>
        <p:spPr>
          <a:xfrm>
            <a:off x="481931" y="5788059"/>
            <a:ext cx="5698492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Criar conta: nome, apelido, e-mail e senha com confirmação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199734" y="1314984"/>
            <a:ext cx="2857499" cy="4205037"/>
          </a:xfrm>
          <a:prstGeom prst="roundRect">
            <a:avLst>
              <a:gd name="adj" fmla="val 3645"/>
            </a:avLst>
          </a:prstGeom>
          <a:solidFill>
            <a:srgbClr val="07041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1" descr="Tela de login do MoodFilm"/>
          <p:cNvPicPr>
            <a:picLocks noChangeAspect="1"/>
          </p:cNvPicPr>
          <p:nvPr/>
        </p:nvPicPr>
        <p:blipFill>
          <a:blip r:embed="rId4"/>
          <a:srcRect l="41330" t="31320" r="41362" b="22984"/>
          <a:stretch>
            <a:fillRect/>
          </a:stretch>
        </p:blipFill>
        <p:spPr>
          <a:xfrm>
            <a:off x="7309521" y="1470671"/>
            <a:ext cx="2637924" cy="3786984"/>
          </a:xfrm>
          <a:prstGeom prst="roundRect">
            <a:avLst>
              <a:gd name="adj" fmla="val 3645"/>
            </a:avLst>
          </a:prstGeom>
        </p:spPr>
      </p:pic>
      <p:sp>
        <p:nvSpPr>
          <p:cNvPr id="8" name="Text 4"/>
          <p:cNvSpPr/>
          <p:nvPr/>
        </p:nvSpPr>
        <p:spPr>
          <a:xfrm>
            <a:off x="7500522" y="5775359"/>
            <a:ext cx="2446923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Entrar com e-mail e senha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6096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Demo: CRUD do diário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69110" y="1289450"/>
            <a:ext cx="11898563" cy="4402279"/>
          </a:xfrm>
          <a:prstGeom prst="roundRect">
            <a:avLst>
              <a:gd name="adj" fmla="val 3645"/>
            </a:avLst>
          </a:prstGeom>
          <a:solidFill>
            <a:srgbClr val="07041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Diário com os cards de filmes"/>
          <p:cNvPicPr>
            <a:picLocks noChangeAspect="1"/>
          </p:cNvPicPr>
          <p:nvPr/>
        </p:nvPicPr>
        <p:blipFill>
          <a:blip r:embed="rId3"/>
          <a:srcRect l="22007" t="9334" r="22020" b="24009"/>
          <a:stretch>
            <a:fillRect/>
          </a:stretch>
        </p:blipFill>
        <p:spPr>
          <a:xfrm>
            <a:off x="259864" y="1585200"/>
            <a:ext cx="5755207" cy="3726743"/>
          </a:xfrm>
          <a:prstGeom prst="roundRect">
            <a:avLst>
              <a:gd name="adj" fmla="val 3645"/>
            </a:avLst>
          </a:prstGeom>
        </p:spPr>
      </p:pic>
      <p:sp>
        <p:nvSpPr>
          <p:cNvPr id="5" name="Text 2"/>
          <p:cNvSpPr/>
          <p:nvPr/>
        </p:nvSpPr>
        <p:spPr>
          <a:xfrm>
            <a:off x="746625" y="5854233"/>
            <a:ext cx="6977647" cy="1057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 err="1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Listar</a:t>
            </a:r>
            <a:r>
              <a:rPr lang="en-US" sz="1600" dirty="0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r>
              <a:rPr lang="en-US" sz="1600" dirty="0" err="1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excluir</a:t>
            </a:r>
            <a:r>
              <a:rPr lang="en-US" sz="1600" dirty="0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cards com </a:t>
            </a:r>
            <a:r>
              <a:rPr lang="en-US" sz="1600" dirty="0" err="1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Editar</a:t>
            </a:r>
            <a:r>
              <a:rPr lang="en-US" sz="1600" dirty="0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r>
              <a:rPr lang="en-US" sz="1600" dirty="0" err="1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Excluir</a:t>
            </a:r>
            <a:r>
              <a:rPr lang="en-US" sz="1600" dirty="0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 </a:t>
            </a:r>
            <a:r>
              <a:rPr lang="en-US" sz="1600" dirty="0" err="1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confirmação</a:t>
            </a:r>
            <a:r>
              <a:rPr lang="en-US" sz="1600" dirty="0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antes de </a:t>
            </a:r>
            <a:r>
              <a:rPr lang="en-US" sz="1600" dirty="0" err="1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apagar</a:t>
            </a:r>
            <a:endParaRPr lang="en-US" sz="1600" dirty="0">
              <a:solidFill>
                <a:srgbClr val="ECE8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ts val="2080"/>
              </a:lnSpc>
              <a:buNone/>
            </a:pPr>
            <a:endParaRPr lang="en-US" sz="1600" dirty="0">
              <a:solidFill>
                <a:srgbClr val="ECE8FF"/>
              </a:solidFill>
              <a:latin typeface="Inter" pitchFamily="34" charset="0"/>
              <a:ea typeface="Inter" pitchFamily="34" charset="-122"/>
            </a:endParaRPr>
          </a:p>
          <a:p>
            <a:pPr>
              <a:lnSpc>
                <a:spcPts val="2080"/>
              </a:lnSpc>
            </a:pPr>
            <a:r>
              <a:rPr lang="en-US" sz="1600" dirty="0" err="1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Criar</a:t>
            </a:r>
            <a:r>
              <a:rPr lang="en-US" sz="1600" dirty="0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r>
              <a:rPr lang="en-US" sz="1600" dirty="0" err="1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editar</a:t>
            </a:r>
            <a:r>
              <a:rPr lang="en-US" sz="1600" dirty="0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r>
              <a:rPr lang="en-US" sz="1600" dirty="0" err="1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</a:t>
            </a:r>
            <a:r>
              <a:rPr lang="en-US" sz="1600" dirty="0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</a:t>
            </a:r>
            <a:r>
              <a:rPr lang="en-US" sz="1600" dirty="0" err="1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título</a:t>
            </a:r>
            <a:r>
              <a:rPr lang="en-US" sz="1600" dirty="0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TMDB, </a:t>
            </a:r>
            <a:r>
              <a:rPr lang="en-US" sz="1600" dirty="0" err="1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gêneros</a:t>
            </a:r>
            <a:r>
              <a:rPr lang="en-US" sz="1600" dirty="0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status, nota e </a:t>
            </a:r>
            <a:r>
              <a:rPr lang="en-US" sz="1600" dirty="0" err="1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avaliação</a:t>
            </a:r>
            <a:r>
              <a:rPr lang="en-US" sz="1600" dirty="0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técnica</a:t>
            </a:r>
            <a:endParaRPr lang="en-US" sz="1600" dirty="0"/>
          </a:p>
          <a:p>
            <a:pPr marL="0" indent="0" algn="l">
              <a:lnSpc>
                <a:spcPts val="2080"/>
              </a:lnSpc>
              <a:buNone/>
            </a:pPr>
            <a:endParaRPr lang="en-US" sz="1600" dirty="0"/>
          </a:p>
        </p:txBody>
      </p:sp>
      <p:pic>
        <p:nvPicPr>
          <p:cNvPr id="7" name="Image 1" descr="Modal de edição de filme"/>
          <p:cNvPicPr>
            <a:picLocks noChangeAspect="1"/>
          </p:cNvPicPr>
          <p:nvPr/>
        </p:nvPicPr>
        <p:blipFill>
          <a:blip r:embed="rId4"/>
          <a:srcRect l="38728" t="12758" r="39329" b="3292"/>
          <a:stretch>
            <a:fillRect/>
          </a:stretch>
        </p:blipFill>
        <p:spPr>
          <a:xfrm>
            <a:off x="9247275" y="1327969"/>
            <a:ext cx="2097658" cy="4363760"/>
          </a:xfrm>
          <a:prstGeom prst="roundRect">
            <a:avLst>
              <a:gd name="adj" fmla="val 3645"/>
            </a:avLst>
          </a:prstGeom>
        </p:spPr>
      </p:pic>
      <p:sp>
        <p:nvSpPr>
          <p:cNvPr id="8" name="Text 4"/>
          <p:cNvSpPr/>
          <p:nvPr/>
        </p:nvSpPr>
        <p:spPr>
          <a:xfrm>
            <a:off x="6017736" y="4199891"/>
            <a:ext cx="5522308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endParaRPr lang="en-US" sz="16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5094FE67-40A8-F81D-EB28-8649C1F56F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9868" t="12613" r="39359" b="2813"/>
          <a:stretch>
            <a:fillRect/>
          </a:stretch>
        </p:blipFill>
        <p:spPr>
          <a:xfrm>
            <a:off x="6790308" y="1289450"/>
            <a:ext cx="1988582" cy="4402279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55468B8-79F6-3049-04ED-60BAC8412C6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1299" t="5717" r="41579" b="84131"/>
          <a:stretch>
            <a:fillRect/>
          </a:stretch>
        </p:blipFill>
        <p:spPr>
          <a:xfrm>
            <a:off x="3822851" y="3799049"/>
            <a:ext cx="1540043" cy="4964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0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6096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Isolamento de dados e decisões técnicas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310641"/>
            <a:ext cx="4246880" cy="2319020"/>
          </a:xfrm>
          <a:prstGeom prst="roundRect">
            <a:avLst>
              <a:gd name="adj" fmla="val 4381"/>
            </a:avLst>
          </a:prstGeom>
          <a:solidFill>
            <a:srgbClr val="1C15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066800" y="1564641"/>
            <a:ext cx="385104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Prova ao vivo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09901" y="1935480"/>
            <a:ext cx="3800326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0899" indent="-210899" algn="l">
              <a:lnSpc>
                <a:spcPts val="189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Entrar com o usuário A e mostrar a lista</a:t>
            </a:r>
            <a:endParaRPr lang="en-US" sz="1400" dirty="0"/>
          </a:p>
          <a:p>
            <a:pPr marL="210899" indent="-210899" algn="l">
              <a:lnSpc>
                <a:spcPts val="189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Sair e entrar com o usuário B</a:t>
            </a:r>
            <a:endParaRPr lang="en-US" sz="1400" dirty="0"/>
          </a:p>
          <a:p>
            <a:pPr marL="210899" indent="-210899" algn="l">
              <a:lnSpc>
                <a:spcPts val="189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lista do B não mostra nada do 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262880" y="1310641"/>
            <a:ext cx="6116320" cy="2319020"/>
          </a:xfrm>
          <a:prstGeom prst="roundRect">
            <a:avLst>
              <a:gd name="adj" fmla="val 4381"/>
            </a:avLst>
          </a:prstGeom>
          <a:solidFill>
            <a:srgbClr val="1C15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516880" y="1564641"/>
            <a:ext cx="577657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Decisões técnicas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01462" y="1935480"/>
            <a:ext cx="5684368" cy="146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890"/>
              </a:lnSpc>
              <a:buSzPct val="100000"/>
              <a:buChar char="•"/>
            </a:pPr>
            <a:r>
              <a:rPr lang="en-US" sz="1400" b="1" dirty="0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Firestore:</a:t>
            </a:r>
            <a:r>
              <a:rPr lang="en-US" sz="1400" dirty="0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dados em coleções e documentos, com consultas filtradas e ordenadas e melhor escala que o Realtime Database</a:t>
            </a:r>
            <a:endParaRPr lang="en-US" sz="1400" dirty="0"/>
          </a:p>
          <a:p>
            <a:pPr marL="169418" indent="-169418" algn="l">
              <a:lnSpc>
                <a:spcPts val="1890"/>
              </a:lnSpc>
              <a:buSzPct val="100000"/>
              <a:buChar char="•"/>
            </a:pPr>
            <a:r>
              <a:rPr lang="en-US" sz="1400" b="1" dirty="0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Componentes:</a:t>
            </a:r>
            <a:r>
              <a:rPr lang="en-US" sz="1400" dirty="0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página principal (diário), depois o dashboard e, mais afastada, a configuração do usuário</a:t>
            </a:r>
            <a:endParaRPr lang="en-US" sz="1400" dirty="0"/>
          </a:p>
          <a:p>
            <a:pPr marL="169418" indent="-169418" algn="l">
              <a:lnSpc>
                <a:spcPts val="1890"/>
              </a:lnSpc>
              <a:buSzPct val="100000"/>
              <a:buChar char="•"/>
            </a:pPr>
            <a:r>
              <a:rPr lang="en-US" sz="1400" b="1" dirty="0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TMDB:</a:t>
            </a:r>
            <a:r>
              <a:rPr lang="en-US" sz="1400" dirty="0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API que traz os dados dos filmes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6096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e perfil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310639"/>
            <a:ext cx="5130800" cy="2787650"/>
          </a:xfrm>
          <a:prstGeom prst="roundRect">
            <a:avLst>
              <a:gd name="adj" fmla="val 3645"/>
            </a:avLst>
          </a:prstGeom>
          <a:solidFill>
            <a:srgbClr val="07041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Dashboard analítico"/>
          <p:cNvPicPr>
            <a:picLocks noChangeAspect="1"/>
          </p:cNvPicPr>
          <p:nvPr/>
        </p:nvPicPr>
        <p:blipFill>
          <a:blip r:embed="rId3"/>
          <a:srcRect l="-40" r="-40"/>
          <a:stretch/>
        </p:blipFill>
        <p:spPr>
          <a:xfrm>
            <a:off x="812800" y="1310639"/>
            <a:ext cx="5130800" cy="2787650"/>
          </a:xfrm>
          <a:prstGeom prst="roundRect">
            <a:avLst>
              <a:gd name="adj" fmla="val 3645"/>
            </a:avLst>
          </a:prstGeom>
        </p:spPr>
      </p:pic>
      <p:sp>
        <p:nvSpPr>
          <p:cNvPr id="5" name="Text 2"/>
          <p:cNvSpPr/>
          <p:nvPr/>
        </p:nvSpPr>
        <p:spPr>
          <a:xfrm>
            <a:off x="812800" y="4199889"/>
            <a:ext cx="4828770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com 14 visões dos hábitos e humores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805726" y="1310639"/>
            <a:ext cx="5130800" cy="2787650"/>
          </a:xfrm>
          <a:prstGeom prst="roundRect">
            <a:avLst>
              <a:gd name="adj" fmla="val 3645"/>
            </a:avLst>
          </a:prstGeom>
          <a:solidFill>
            <a:srgbClr val="07041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1" descr="Tela de perfil e configurações"/>
          <p:cNvPicPr>
            <a:picLocks noChangeAspect="1"/>
          </p:cNvPicPr>
          <p:nvPr/>
        </p:nvPicPr>
        <p:blipFill>
          <a:blip r:embed="rId4"/>
          <a:srcRect l="-40" r="-40"/>
          <a:stretch/>
        </p:blipFill>
        <p:spPr>
          <a:xfrm>
            <a:off x="5805726" y="1310639"/>
            <a:ext cx="5130800" cy="2787650"/>
          </a:xfrm>
          <a:prstGeom prst="roundRect">
            <a:avLst>
              <a:gd name="adj" fmla="val 3645"/>
            </a:avLst>
          </a:prstGeom>
        </p:spPr>
      </p:pic>
      <p:sp>
        <p:nvSpPr>
          <p:cNvPr id="8" name="Text 4"/>
          <p:cNvSpPr/>
          <p:nvPr/>
        </p:nvSpPr>
        <p:spPr>
          <a:xfrm>
            <a:off x="5805726" y="4199889"/>
            <a:ext cx="5740679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Perfil: apelido, e-mail e senha, com confirmação da senha atual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6096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Desafios enfrentados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310639"/>
            <a:ext cx="3386614" cy="2446020"/>
          </a:xfrm>
          <a:prstGeom prst="roundRect">
            <a:avLst>
              <a:gd name="adj" fmla="val 4154"/>
            </a:avLst>
          </a:prstGeom>
          <a:solidFill>
            <a:srgbClr val="1C15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066800" y="1564639"/>
            <a:ext cx="313261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Configuração do ambiente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1935482"/>
            <a:ext cx="2964972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Muitas configurações para ligar o projeto ao Firebase e ao GitHub antes de o app funcionar.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6800" y="2782571"/>
            <a:ext cx="2964972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A79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Solução: configurar e testar cada ligação até o app rodar.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2614" y="1310639"/>
            <a:ext cx="3386693" cy="2446020"/>
          </a:xfrm>
          <a:prstGeom prst="roundRect">
            <a:avLst>
              <a:gd name="adj" fmla="val 4154"/>
            </a:avLst>
          </a:prstGeom>
          <a:solidFill>
            <a:srgbClr val="1C15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656614" y="1564639"/>
            <a:ext cx="296505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API do TMDB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56614" y="1935482"/>
            <a:ext cx="2965054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filmes não carregavam e a busca dava erro. A chave da API não estava validada.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56614" y="2782571"/>
            <a:ext cx="2965054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A79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Solução: investigar o erro, validar a chave e testar de novo.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92507" y="1310639"/>
            <a:ext cx="3386693" cy="2446020"/>
          </a:xfrm>
          <a:prstGeom prst="roundRect">
            <a:avLst>
              <a:gd name="adj" fmla="val 4154"/>
            </a:avLst>
          </a:prstGeom>
          <a:solidFill>
            <a:srgbClr val="1C15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246507" y="1564639"/>
            <a:ext cx="296505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Ajustes de interface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46507" y="1935482"/>
            <a:ext cx="2965054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EC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Estilização e responsividade dos componentes pediram vários ajustes.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46507" y="2782571"/>
            <a:ext cx="2965054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A79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Solução: refinar o visual aos poucos, testando a cada mudança.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D4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2009139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5F3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Fechamento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2760982"/>
            <a:ext cx="10883392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dirty="0">
                <a:solidFill>
                  <a:srgbClr val="F5F3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MoodFilm junta diário, humor e análise em um só app, e cada usuário só vê os próprios dados.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2800" y="3792221"/>
            <a:ext cx="10883392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F5F3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Perguntas?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odFilm – Apresentação">
  <a:themeElements>
    <a:clrScheme name="MoodFilm – Apresentação">
      <a:dk1>
        <a:srgbClr val="0F0A24"/>
      </a:dk1>
      <a:lt1>
        <a:srgbClr val="C4B5FD"/>
      </a:lt1>
      <a:dk2>
        <a:srgbClr val="211B3A"/>
      </a:dk2>
      <a:lt2>
        <a:srgbClr val="978AC7"/>
      </a:lt2>
      <a:accent1>
        <a:srgbClr val="A78BFA"/>
      </a:accent1>
      <a:accent2>
        <a:srgbClr val="A79FC9"/>
      </a:accent2>
      <a:accent3>
        <a:srgbClr val="6D4DE8"/>
      </a:accent3>
      <a:accent4>
        <a:srgbClr val="9AA0A6"/>
      </a:accent4>
      <a:accent5>
        <a:srgbClr val="7C71A6"/>
      </a:accent5>
      <a:accent6>
        <a:srgbClr val="605786"/>
      </a:accent6>
      <a:hlink>
        <a:srgbClr val="0563C1"/>
      </a:hlink>
      <a:folHlink>
        <a:srgbClr val="954F72"/>
      </a:folHlink>
    </a:clrScheme>
    <a:fontScheme name="MoodFilm – Apresentação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589</Words>
  <Application>Microsoft Office PowerPoint</Application>
  <PresentationFormat>Widescreen</PresentationFormat>
  <Paragraphs>56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Inter</vt:lpstr>
      <vt:lpstr>MoodFilm – Apresentação</vt:lpstr>
      <vt:lpstr>🎬 MoodFilm</vt:lpstr>
      <vt:lpstr>Demo: cadastro e login</vt:lpstr>
      <vt:lpstr>Demo: CRUD do diário</vt:lpstr>
      <vt:lpstr>Isolamento de dados e decisões técnicas</vt:lpstr>
      <vt:lpstr>Analytics e perfil</vt:lpstr>
      <vt:lpstr>Desafios enfrentados</vt:lpstr>
      <vt:lpstr>Fechamento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MoodFilm – Apresentação</dc:title>
  <dc:subject/>
  <dc:creator/>
  <cp:lastModifiedBy>Thiago Soares da Silva</cp:lastModifiedBy>
  <cp:revision>2</cp:revision>
  <dcterms:created xsi:type="dcterms:W3CDTF">2026-10-03T00:01:44Z</dcterms:created>
  <dcterms:modified xsi:type="dcterms:W3CDTF">2026-10-03T00:14:42Z</dcterms:modified>
</cp:coreProperties>
</file>